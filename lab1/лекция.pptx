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Roboto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gCtswpVO1L9WbiE3XMX4AE3XI9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4847CB-3E20-4198-939A-23DCA4E294E6}">
  <a:tblStyle styleId="{3A4847CB-3E20-4198-939A-23DCA4E294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bold.fntdata"/><Relationship Id="rId50" Type="http://schemas.openxmlformats.org/officeDocument/2006/relationships/font" Target="fonts/RobotoMono-regular.fntdata"/><Relationship Id="rId53" Type="http://schemas.openxmlformats.org/officeDocument/2006/relationships/font" Target="fonts/RobotoMono-boldItalic.fntdata"/><Relationship Id="rId52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b5b03d82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8b5b03d8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b5b03d82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b5b03d82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b5b03d82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b5b03d82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b5b03d82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b5b03d82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b5b03d82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b5b03d82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b5b03d82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b5b03d82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b5b03d82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b5b03d82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5b03d82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b5b03d82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b5b03d82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b5b03d82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b5b03d82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b5b03d82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5b03d82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b5b03d82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b5b03d82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b5b03d82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5b03d82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b5b03d82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b5b03d82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b5b03d82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b5b03d82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8b5b03d82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b5b03d82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b5b03d82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b5b03d82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8b5b03d82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b5b03d82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8b5b03d82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b5b03d82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b5b03d82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b5b03d82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b5b03d82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b5b03d82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b5b03d82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b5b03d82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8b5b03d82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b5b03d82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b5b03d82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b5b03d82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b5b03d82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b5b03d82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b5b03d82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b5b03d823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b5b03d82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b5b03d823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b5b03d823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b5b03d82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8b5b03d82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8b5b03d82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8b5b03d82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b5b03d823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b5b03d823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b5b03d823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8b5b03d82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b5b03d823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b5b03d823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b5b03d823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b5b03d823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open?id=1MbRWUvtIHOEaihgOHLDl5tCxbUulx5pj&amp;usp=drive_copy" TargetMode="External"/><Relationship Id="rId4" Type="http://schemas.openxmlformats.org/officeDocument/2006/relationships/hyperlink" Target="https://drive.google.com/open?id=1aG7Ab7_FZI1mFP39jf908fwC4sXVhUsT&amp;usp=drive_copy" TargetMode="External"/><Relationship Id="rId10" Type="http://schemas.openxmlformats.org/officeDocument/2006/relationships/hyperlink" Target="https://drive.google.com/open?id=1iRfD-XPc3TSu_9UwiGE6YayTGqL6cfun&amp;usp=drive_copy" TargetMode="External"/><Relationship Id="rId9" Type="http://schemas.openxmlformats.org/officeDocument/2006/relationships/hyperlink" Target="https://drive.google.com/open?id=1XuV-mqAqBpQcUQFZaZavuGCPdz9oneic&amp;usp=drive_copy" TargetMode="External"/><Relationship Id="rId5" Type="http://schemas.openxmlformats.org/officeDocument/2006/relationships/hyperlink" Target="https://drive.google.com/open?id=1hHLn248HMo_yXMNxueJq5tIbQ2MWRGkF&amp;usp=drive_copy" TargetMode="External"/><Relationship Id="rId6" Type="http://schemas.openxmlformats.org/officeDocument/2006/relationships/hyperlink" Target="https://drive.google.com/open?id=11biI2lYDrXdG0o5ogJHj3bAfFyjhD5GF&amp;usp=drive_copy" TargetMode="External"/><Relationship Id="rId7" Type="http://schemas.openxmlformats.org/officeDocument/2006/relationships/hyperlink" Target="https://drive.google.com/open?id=1FwVHPDUehru1lZPum5VlQyMaz_mdkjn2&amp;usp=drive_copy" TargetMode="External"/><Relationship Id="rId8" Type="http://schemas.openxmlformats.org/officeDocument/2006/relationships/hyperlink" Target="https://drive.google.com/open?id=1sPS3Cy0IYHSFp6ialTgkHjSo48ZHE4lF&amp;usp=drive_cop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4300"/>
              <a:t>Natural Language Processing</a:t>
            </a:r>
            <a:endParaRPr b="1" sz="43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3300">
                <a:solidFill>
                  <a:schemeClr val="dk1"/>
                </a:solidFill>
              </a:rPr>
              <a:t>Основные понятия</a:t>
            </a:r>
            <a:endParaRPr b="1"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Структура курса</a:t>
            </a:r>
            <a:endParaRPr b="1"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1. Введение в NLP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2. Эмбеддинги</a:t>
            </a:r>
            <a:endParaRPr sz="200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5"/>
              </a:rPr>
              <a:t>3. Классификация текстов</a:t>
            </a:r>
            <a:endParaRPr sz="20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6"/>
              </a:rPr>
              <a:t>4. Генерация текста</a:t>
            </a:r>
            <a:endParaRPr sz="20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7"/>
              </a:rPr>
              <a:t>5. Трансферное обучение</a:t>
            </a:r>
            <a:endParaRPr sz="20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8"/>
              </a:rPr>
              <a:t>6. Большие языковые модели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9"/>
              </a:rPr>
              <a:t>7. Агенты</a:t>
            </a:r>
            <a:endParaRPr sz="20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10"/>
              </a:rPr>
              <a:t>8. Инженерия систем NLP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Типичная структура занятия</a:t>
            </a:r>
            <a:endParaRPr b="1"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b="1" lang="en-GB" sz="2300">
                <a:solidFill>
                  <a:schemeClr val="dk1"/>
                </a:solidFill>
              </a:rPr>
              <a:t>Лекция</a:t>
            </a:r>
            <a:r>
              <a:rPr lang="en-GB" sz="2300">
                <a:solidFill>
                  <a:schemeClr val="dk1"/>
                </a:solidFill>
              </a:rPr>
              <a:t>: изучаем теорию, math behind, термины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b="1" lang="en-GB" sz="2300">
                <a:solidFill>
                  <a:schemeClr val="dk1"/>
                </a:solidFill>
              </a:rPr>
              <a:t>Практикум</a:t>
            </a:r>
            <a:r>
              <a:rPr lang="en-GB" sz="2300">
                <a:solidFill>
                  <a:schemeClr val="dk1"/>
                </a:solidFill>
              </a:rPr>
              <a:t>: решаем короткие задачи в коде + проверка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b="1" lang="en-GB" sz="2300">
                <a:solidFill>
                  <a:schemeClr val="dk1"/>
                </a:solidFill>
              </a:rPr>
              <a:t>Домашка</a:t>
            </a:r>
            <a:r>
              <a:rPr lang="en-GB" sz="2300">
                <a:solidFill>
                  <a:schemeClr val="dk1"/>
                </a:solidFill>
              </a:rPr>
              <a:t>: проходим тест на отработку теории + дорешиваем лаборатные задачи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b5b03d823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План сегодняшней лекции</a:t>
            </a:r>
            <a:endParaRPr b="1"/>
          </a:p>
        </p:txBody>
      </p:sp>
      <p:sp>
        <p:nvSpPr>
          <p:cNvPr id="73" name="Google Shape;73;g38b5b03d823_0_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GB" sz="2300">
                <a:solidFill>
                  <a:schemeClr val="dk1"/>
                </a:solidFill>
              </a:rPr>
              <a:t>Что входит в понятие NLP?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GB" sz="2300">
                <a:solidFill>
                  <a:schemeClr val="dk1"/>
                </a:solidFill>
              </a:rPr>
              <a:t>Типичные задачи NLP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GB" sz="2300">
                <a:solidFill>
                  <a:schemeClr val="dk1"/>
                </a:solidFill>
              </a:rPr>
              <a:t>Рабочая терминология (токенизация, лемматизация)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GB" sz="2300">
                <a:solidFill>
                  <a:schemeClr val="dk1"/>
                </a:solidFill>
              </a:rPr>
              <a:t>Представление текста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GB" sz="2300">
                <a:solidFill>
                  <a:schemeClr val="dk1"/>
                </a:solidFill>
              </a:rPr>
              <a:t>Оценка качества модели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План лабораторной</a:t>
            </a:r>
            <a:endParaRPr b="1"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Обзор инструментов и библиотек NLP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Пример предобработки текста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Пререквизиты</a:t>
            </a:r>
            <a:endParaRPr b="1"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Р</a:t>
            </a:r>
            <a:r>
              <a:rPr lang="en-GB" sz="2500">
                <a:solidFill>
                  <a:schemeClr val="dk1"/>
                </a:solidFill>
              </a:rPr>
              <a:t>епозиторий на GitHub для разгрузки ДЗ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Профиль на HuggingFace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300"/>
              <a:t>Что входит в понятие NLP?</a:t>
            </a:r>
            <a:endParaRPr b="1" sz="4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8b5b03d823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8b5b03d823_0_32"/>
          <p:cNvSpPr txBox="1"/>
          <p:nvPr/>
        </p:nvSpPr>
        <p:spPr>
          <a:xfrm>
            <a:off x="0" y="0"/>
            <a:ext cx="425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https://www.geeksforgeeks.org/nlp/nlp-vs-llm/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8b5b03d823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950" y="1338263"/>
            <a:ext cx="38481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8b5b03d823_0_41"/>
          <p:cNvSpPr txBox="1"/>
          <p:nvPr/>
        </p:nvSpPr>
        <p:spPr>
          <a:xfrm>
            <a:off x="0" y="0"/>
            <a:ext cx="831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https://www.mathworks.com/discovery/natural-language-processing.html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8b5b03d823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38" y="666750"/>
            <a:ext cx="76295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8b5b03d823_0_50"/>
          <p:cNvSpPr txBox="1"/>
          <p:nvPr/>
        </p:nvSpPr>
        <p:spPr>
          <a:xfrm>
            <a:off x="0" y="0"/>
            <a:ext cx="73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https://www.geeksforgeeks.org/nlp/natural-language-understanding/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8b5b03d823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681038"/>
            <a:ext cx="809625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8b5b03d823_0_60"/>
          <p:cNvSpPr txBox="1"/>
          <p:nvPr/>
        </p:nvSpPr>
        <p:spPr>
          <a:xfrm>
            <a:off x="0" y="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researchgate.net/figure/NLU-datasets-and-their-respective-tasks-used-for-multilingual-statement-fine-tuning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8b5b03d823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75" y="666750"/>
            <a:ext cx="7562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8b5b03d823_0_69"/>
          <p:cNvSpPr txBox="1"/>
          <p:nvPr/>
        </p:nvSpPr>
        <p:spPr>
          <a:xfrm>
            <a:off x="0" y="0"/>
            <a:ext cx="924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https://www.kaggle.com/datasets/bhavikardeshna/xquad-datasetsquad-format-for-question-answering/code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b5b03d823_0_78"/>
          <p:cNvSpPr txBox="1"/>
          <p:nvPr/>
        </p:nvSpPr>
        <p:spPr>
          <a:xfrm>
            <a:off x="0" y="0"/>
            <a:ext cx="51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https://huggingface.co/datasets/google/xquad</a:t>
            </a:r>
            <a:endParaRPr/>
          </a:p>
        </p:txBody>
      </p:sp>
      <p:pic>
        <p:nvPicPr>
          <p:cNvPr id="126" name="Google Shape;126;g38b5b03d823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75" y="352500"/>
            <a:ext cx="8043453" cy="44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8b5b03d823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9425"/>
            <a:ext cx="8839204" cy="43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8b5b03d823_0_87"/>
          <p:cNvSpPr txBox="1"/>
          <p:nvPr/>
        </p:nvSpPr>
        <p:spPr>
          <a:xfrm>
            <a:off x="0" y="0"/>
            <a:ext cx="469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https://github.com/facebookresearch/XNLI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8b5b03d823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152400"/>
            <a:ext cx="8698344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8b5b03d823_0_96"/>
          <p:cNvSpPr txBox="1"/>
          <p:nvPr/>
        </p:nvSpPr>
        <p:spPr>
          <a:xfrm>
            <a:off x="0" y="0"/>
            <a:ext cx="599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https://huggingface.co/datasets/Muennighoff/xwinograd/viewer/ru?row=2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8b5b03d823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950" y="1338263"/>
            <a:ext cx="38481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8b5b03d823_0_105"/>
          <p:cNvSpPr txBox="1"/>
          <p:nvPr/>
        </p:nvSpPr>
        <p:spPr>
          <a:xfrm>
            <a:off x="0" y="0"/>
            <a:ext cx="831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https://www.mathworks.com/discovery/natural-language-processing.html</a:t>
            </a:r>
            <a:endParaRPr/>
          </a:p>
        </p:txBody>
      </p:sp>
      <p:cxnSp>
        <p:nvCxnSpPr>
          <p:cNvPr id="145" name="Google Shape;145;g38b5b03d823_0_105"/>
          <p:cNvCxnSpPr/>
          <p:nvPr/>
        </p:nvCxnSpPr>
        <p:spPr>
          <a:xfrm flipH="1">
            <a:off x="5911125" y="932825"/>
            <a:ext cx="1615200" cy="131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g38b5b03d823_0_105"/>
          <p:cNvSpPr txBox="1"/>
          <p:nvPr/>
        </p:nvSpPr>
        <p:spPr>
          <a:xfrm>
            <a:off x="7363375" y="571500"/>
            <a:ext cx="14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Это кто?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8b5b03d823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13" y="152400"/>
            <a:ext cx="820118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8b5b03d823_0_112"/>
          <p:cNvSpPr txBox="1"/>
          <p:nvPr/>
        </p:nvSpPr>
        <p:spPr>
          <a:xfrm>
            <a:off x="0" y="0"/>
            <a:ext cx="65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https://devopedia.org/natural-language-generation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8b5b03d823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475" y="152400"/>
            <a:ext cx="75310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8b5b03d823_0_121"/>
          <p:cNvSpPr txBox="1"/>
          <p:nvPr/>
        </p:nvSpPr>
        <p:spPr>
          <a:xfrm>
            <a:off x="0" y="0"/>
            <a:ext cx="73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https://flight-manual.atom-editor.cc/using-atom/sections/autocomplete/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8b5b03d823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1950"/>
            <a:ext cx="8839201" cy="441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8b5b03d823_0_130"/>
          <p:cNvSpPr txBox="1"/>
          <p:nvPr/>
        </p:nvSpPr>
        <p:spPr>
          <a:xfrm>
            <a:off x="0" y="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https://www.techadvisor.com/article/731491/how-to-use-autocomplete-in-gmail-try-smart-compose.html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8b5b03d823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3975"/>
            <a:ext cx="8839201" cy="34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8b5b03d823_0_139"/>
          <p:cNvSpPr txBox="1"/>
          <p:nvPr/>
        </p:nvSpPr>
        <p:spPr>
          <a:xfrm>
            <a:off x="0" y="0"/>
            <a:ext cx="50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https://writeme.ai/gpt3-email-generator/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b5b03d823_0_12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300"/>
              <a:t>Типичные задачи NLP</a:t>
            </a:r>
            <a:endParaRPr b="1" sz="4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g38b5b03d823_0_148"/>
          <p:cNvGraphicFramePr/>
          <p:nvPr/>
        </p:nvGraphicFramePr>
        <p:xfrm>
          <a:off x="952500" y="115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{3A4847CB-3E20-4198-939A-23DCA4E294E6}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Классификация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	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Спам-фильтр, анализ тональности, PoS-recognition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Кластеризация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Тематическое моделирование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Извлечение (Information Extraction)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NER, relation extraction, keyword extraction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Генерация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Генеративный ИИ, </a:t>
                      </a:r>
                      <a:r>
                        <a:rPr lang="en-GB"/>
                        <a:t>машинный перевод, суммаризация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Поиск (Information Retrieval)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Search engines, retrieval в RAG, question answering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5b03d823_0_17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300"/>
              <a:t>Рабочая терминология</a:t>
            </a:r>
            <a:endParaRPr b="1" sz="4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b5b03d823_0_1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Токен</a:t>
            </a:r>
            <a:endParaRPr b="1"/>
          </a:p>
        </p:txBody>
      </p:sp>
      <p:sp>
        <p:nvSpPr>
          <p:cNvPr id="191" name="Google Shape;191;g38b5b03d823_0_1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GB" sz="2200">
                <a:solidFill>
                  <a:schemeClr val="dk1"/>
                </a:solidFill>
              </a:rPr>
              <a:t>Минимальная единица текста, с которой работает модель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GB" sz="2200">
                <a:solidFill>
                  <a:schemeClr val="dk1"/>
                </a:solidFill>
              </a:rPr>
              <a:t>Типы: посимвольные, пословные, подсловные, а также на уровне предложений; также существуют гибридные и послоговые и т.д.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GB" sz="2200">
                <a:solidFill>
                  <a:schemeClr val="dk1"/>
                </a:solidFill>
              </a:rPr>
              <a:t>Выбор типа (уровня сегментации) такой единицы зависит от языка и задачи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GB" sz="2200">
                <a:solidFill>
                  <a:schemeClr val="dk1"/>
                </a:solidFill>
              </a:rPr>
              <a:t>Подсловные токены (BPE, WordPiece) — стандарт для LLM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GB" sz="2200">
                <a:solidFill>
                  <a:schemeClr val="dk1"/>
                </a:solidFill>
              </a:rPr>
              <a:t>Процесс сегментации называем </a:t>
            </a:r>
            <a:r>
              <a:rPr b="1" lang="en-GB" sz="2200">
                <a:solidFill>
                  <a:schemeClr val="dk1"/>
                </a:solidFill>
              </a:rPr>
              <a:t>токенизацией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8b5b03d823_0_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213" y="152400"/>
            <a:ext cx="6295584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8b5b03d823_0_175"/>
          <p:cNvSpPr txBox="1"/>
          <p:nvPr/>
        </p:nvSpPr>
        <p:spPr>
          <a:xfrm>
            <a:off x="0" y="0"/>
            <a:ext cx="697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https://www.npmjs.com/package/gpt-tokenizer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8b5b03d823_0_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8b5b03d823_0_181"/>
          <p:cNvSpPr txBox="1"/>
          <p:nvPr/>
        </p:nvSpPr>
        <p:spPr>
          <a:xfrm>
            <a:off x="0" y="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https://www.linkedin.com/pulse/byte-pair-encoding-bpe-subword-tokenization-method-nlp-dayal-2u6hc</a:t>
            </a:r>
            <a:endParaRPr/>
          </a:p>
        </p:txBody>
      </p:sp>
      <p:sp>
        <p:nvSpPr>
          <p:cNvPr id="204" name="Google Shape;204;g38b5b03d823_0_181"/>
          <p:cNvSpPr txBox="1"/>
          <p:nvPr/>
        </p:nvSpPr>
        <p:spPr>
          <a:xfrm>
            <a:off x="229075" y="4475175"/>
            <a:ext cx="40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Byte-Pair Encoding (BPE)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b5b03d823_0_1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Лемма</a:t>
            </a:r>
            <a:endParaRPr b="1"/>
          </a:p>
        </p:txBody>
      </p:sp>
      <p:sp>
        <p:nvSpPr>
          <p:cNvPr id="210" name="Google Shape;210;g38b5b03d823_0_1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Лемматизация — приведение слова к его нормальной (словарной) форме, т.е. </a:t>
            </a:r>
            <a:r>
              <a:rPr lang="en-GB" sz="2200">
                <a:solidFill>
                  <a:schemeClr val="dk1"/>
                </a:solidFill>
              </a:rPr>
              <a:t>л</a:t>
            </a:r>
            <a:r>
              <a:rPr lang="en-GB" sz="2200">
                <a:solidFill>
                  <a:schemeClr val="dk1"/>
                </a:solidFill>
              </a:rPr>
              <a:t>емме</a:t>
            </a:r>
            <a:endParaRPr sz="2200">
              <a:solidFill>
                <a:schemeClr val="dk1"/>
              </a:solidFill>
            </a:endParaRPr>
          </a:p>
          <a:p>
            <a:pPr indent="-34734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2200">
                <a:solidFill>
                  <a:schemeClr val="dk1"/>
                </a:solidFill>
              </a:rPr>
              <a:t>Алгоритм лемматизации учитывает часть речи, контекст</a:t>
            </a:r>
            <a:endParaRPr sz="2200">
              <a:solidFill>
                <a:schemeClr val="dk1"/>
              </a:solidFill>
            </a:endParaRPr>
          </a:p>
          <a:p>
            <a:pPr indent="-34734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2200">
                <a:solidFill>
                  <a:schemeClr val="dk1"/>
                </a:solidFill>
              </a:rPr>
              <a:t>Использует словари, морфологический анализ</a:t>
            </a:r>
            <a:endParaRPr sz="2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Исходное слово: бежал</a:t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Лемма: бежать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Исходное слово: мыла</a:t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Лемма: мыть или мыло</a:t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Процесс разрешения неоднозначности называется </a:t>
            </a:r>
            <a:r>
              <a:rPr b="1" lang="en-GB" sz="2200">
                <a:solidFill>
                  <a:schemeClr val="dk1"/>
                </a:solidFill>
              </a:rPr>
              <a:t>дизамбигуация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b5b03d823_0_2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Стемма</a:t>
            </a:r>
            <a:endParaRPr b="1"/>
          </a:p>
        </p:txBody>
      </p:sp>
      <p:sp>
        <p:nvSpPr>
          <p:cNvPr id="216" name="Google Shape;216;g38b5b03d823_0_2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Отсечение окончаний и суффиксов по правилам или частотности</a:t>
            </a:r>
            <a:endParaRPr sz="2200">
              <a:solidFill>
                <a:schemeClr val="dk1"/>
              </a:solidFill>
            </a:endParaRPr>
          </a:p>
          <a:p>
            <a:pPr indent="-34734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2200">
                <a:solidFill>
                  <a:schemeClr val="dk1"/>
                </a:solidFill>
              </a:rPr>
              <a:t>Менее точный чем лемматизация</a:t>
            </a:r>
            <a:endParaRPr sz="2200">
              <a:solidFill>
                <a:schemeClr val="dk1"/>
              </a:solidFill>
            </a:endParaRPr>
          </a:p>
          <a:p>
            <a:pPr indent="-34734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2200">
                <a:solidFill>
                  <a:schemeClr val="dk1"/>
                </a:solidFill>
              </a:rPr>
              <a:t>Не требует словаря, быстрее в реализации</a:t>
            </a:r>
            <a:endParaRPr sz="2200">
              <a:solidFill>
                <a:schemeClr val="dk1"/>
              </a:solidFill>
            </a:endParaRPr>
          </a:p>
          <a:p>
            <a:pPr indent="-34734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2200">
                <a:solidFill>
                  <a:schemeClr val="dk1"/>
                </a:solidFill>
              </a:rPr>
              <a:t>Результат не всегда является словом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Исходное слово: бежал</a:t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Стемма: беж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Исходное слово: мыла</a:t>
            </a:r>
            <a:endParaRPr sz="2200"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 sz="2200">
                <a:solidFill>
                  <a:schemeClr val="dk1"/>
                </a:solidFill>
              </a:rPr>
              <a:t>Стемма: мыл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b5b03d823_0_22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300"/>
              <a:t>Представление текста</a:t>
            </a:r>
            <a:endParaRPr b="1" sz="4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b5b03d823_0_2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Зачем превращать слова в числа?</a:t>
            </a:r>
            <a:endParaRPr b="1"/>
          </a:p>
        </p:txBody>
      </p:sp>
      <p:sp>
        <p:nvSpPr>
          <p:cNvPr id="227" name="Google Shape;227;g38b5b03d823_0_20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Слова (и текст в целом) нельзя напрямую подавать на вход процессору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Автоматизированная обработка текста предполагает выполнение расчётов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Для расчётов нужны числовые признаки объектов — </a:t>
            </a:r>
            <a:r>
              <a:rPr i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feature vectors</a:t>
            </a:r>
            <a:endParaRPr i="1"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Решение — </a:t>
            </a: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векторизация</a:t>
            </a:r>
            <a:endParaRPr b="1"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Так называют процесс преобразования текстовых данных в числовые признаки (feature vectors), чтобы с ним можно было выполнять математические операции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b5b03d823_0_2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One-hot encoding</a:t>
            </a:r>
            <a:endParaRPr b="1"/>
          </a:p>
        </p:txBody>
      </p:sp>
      <p:sp>
        <p:nvSpPr>
          <p:cNvPr id="233" name="Google Shape;233;g38b5b03d823_0_2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Каждому слову из словаря ставится в соответствие вектор длиной = размеру словаря. </a:t>
            </a: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Правило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на позиции слова — 1, на всех остальных — 0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Космос бесконечен, звёзды мерцают.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Звёзды в космосе ярко сияют.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Хоккей — это спорт.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Спортсмены играют в хоккей.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1200"/>
              </a:spcAft>
              <a:buNone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Уникальные слова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космос, бесконечен, звёзды, мерцают, в, ярко, сияют, хоккей, это, спорт, спортсмены, играют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b5b03d823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Слово							Feature vector (длина = 12)</a:t>
            </a:r>
            <a:endParaRPr b="1" sz="155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космос</a:t>
            </a:r>
            <a:r>
              <a:rPr lang="en-GB" sz="1550">
                <a:solidFill>
                  <a:srgbClr val="0F111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							</a:t>
            </a: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(1, 0, 0, 0, 0, 0, 0, 0, 0, 0, 0, 0)</a:t>
            </a:r>
            <a:endParaRPr sz="155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звёзды</a:t>
            </a:r>
            <a:r>
              <a:rPr lang="en-GB" sz="1550">
                <a:solidFill>
                  <a:srgbClr val="0F111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							</a:t>
            </a: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0, 0, 1, 0, 0, 0, 0, 0, 0, 0, 0, 0)</a:t>
            </a:r>
            <a:endParaRPr sz="155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хоккей</a:t>
            </a:r>
            <a:r>
              <a:rPr lang="en-GB" sz="1550">
                <a:solidFill>
                  <a:srgbClr val="0F111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							</a:t>
            </a: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(0, 0, 0, 0, 0, 0, 0, 1, 0, 0, 0, 0)</a:t>
            </a:r>
            <a:endParaRPr sz="155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спорт</a:t>
            </a:r>
            <a:r>
              <a:rPr lang="en-GB" sz="1550">
                <a:solidFill>
                  <a:srgbClr val="0F111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							</a:t>
            </a: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(0, 0, 0, 0, 0, 0, 0, 0, 0, 1, 0, 0)</a:t>
            </a:r>
            <a:endParaRPr sz="155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Слово </a:t>
            </a:r>
            <a:r>
              <a:rPr b="1"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космос</a:t>
            </a:r>
            <a:r>
              <a:rPr lang="en-GB" sz="155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находится на 1-й позиции в словаре. Значит, в векторе длины 12 на 1-й позиции ставим 1, на всех остальных — 0</a:t>
            </a:r>
            <a:endParaRPr sz="155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b5b03d823_0_2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Что можно вычислить?</a:t>
            </a:r>
            <a:endParaRPr b="1"/>
          </a:p>
        </p:txBody>
      </p:sp>
      <p:sp>
        <p:nvSpPr>
          <p:cNvPr id="244" name="Google Shape;244;g38b5b03d823_0_2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Мы уже можем оценить лексическое сходство текстов через векторы предложений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Задаём вектор предложения как сумму векторов всех слов в нём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Предложение 1: космос + бесконечен + звёзды + мерцают</a:t>
            </a:r>
            <a:b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(1, 1, 1, 1, 0, 0, 0, 0, 0, 0, 0, 0, 0)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Предложение 2: звёзды + в + космосе + ярко + сияют</a:t>
            </a:r>
            <a:b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(0, 0, 1, 0, 1, 1, 1, 1, 0, 0, 0, 0, 0)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Предложение 3: хоккей + это + спорт</a:t>
            </a:r>
            <a:b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(0, 0, 0, 0, 0, 0, 0, 0, 1, 1, 1, 0, 0)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Предложение 4: спортсмены + играют + в + хоккей</a:t>
            </a:r>
            <a:b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(0, 0, 0, 0, 1, 0, 0, 0, 1, 0, 0, 1, 1)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Сравниваем: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Предложения 1 и 2 имеют 1 лексическое пересечение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Предложения 1 и 3 не имеют общих слов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Предложения 3 и 4 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имеют 1 лексическое пересечение 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b5b03d823_0_2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Ограничения метода</a:t>
            </a:r>
            <a:endParaRPr b="1"/>
          </a:p>
        </p:txBody>
      </p:sp>
      <p:sp>
        <p:nvSpPr>
          <p:cNvPr id="250" name="Google Shape;250;g38b5b03d823_0_2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One-hot + сумма векторов позволяют: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Roboto"/>
              <a:buChar char="●"/>
            </a:pP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Определять, насколько тексты похожи по лексике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Roboto"/>
              <a:buChar char="●"/>
            </a:pP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Группировать тексты по темам (космос vs хоккей)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Однако слова </a:t>
            </a:r>
            <a:r>
              <a:rPr b="1"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космос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b="1"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космосе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спорт 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b="1"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спортсмен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разные векторы. Для разрешения первого случая нам поможет лемматизация. Для второго – стемминг</a:t>
            </a:r>
            <a:endParaRPr sz="21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b5b03d823_0_27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300"/>
              <a:t>Оценка качества модели</a:t>
            </a:r>
            <a:endParaRPr b="1" sz="4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b5b03d823_0_2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Как мы поймем, хороша ли наша разработка?</a:t>
            </a:r>
            <a:endParaRPr b="1"/>
          </a:p>
        </p:txBody>
      </p:sp>
      <p:sp>
        <p:nvSpPr>
          <p:cNvPr id="261" name="Google Shape;261;g38b5b03d823_0_2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Метрика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числовая величина, которая показывает, насколько хорошо модель справляется с задачей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Позволяет: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Сравнивать модели между собой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Сравнивать вариации одной модели (с разными гиперпараметрами)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Отслеживать улучшения при настройке (обучении)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Принять решение о выпуске модели в использование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Зафиксировать результаты научного исследования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b5b03d823_0_2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Accuracy </a:t>
            </a:r>
            <a:endParaRPr b="1"/>
          </a:p>
        </p:txBody>
      </p:sp>
      <p:sp>
        <p:nvSpPr>
          <p:cNvPr id="267" name="Google Shape;267;g38b5b03d823_0_2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Accuracy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доля правильных ответов модели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Формула: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38100" rtl="0" algn="ctr">
              <a:lnSpc>
                <a:spcPct val="120000"/>
              </a:lnSpc>
              <a:spcBef>
                <a:spcPts val="1200"/>
              </a:spcBef>
              <a:spcAft>
                <a:spcPts val="1100"/>
              </a:spcAft>
              <a:buNone/>
            </a:pPr>
            <a:r>
              <a:rPr lang="en-GB" sz="175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Accuracy = количество правильных ответов / общее количество примеров</a:t>
            </a:r>
            <a:endParaRPr b="1"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b5b03d823_0_2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Пример подсчета Accuracy</a:t>
            </a:r>
            <a:endParaRPr b="1"/>
          </a:p>
        </p:txBody>
      </p:sp>
      <p:sp>
        <p:nvSpPr>
          <p:cNvPr id="273" name="Google Shape;273;g38b5b03d823_0_2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Задача</a:t>
            </a: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спам-фильтр (10 писем)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381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Метка		Предсказание модели</a:t>
            </a:r>
            <a:endParaRPr b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3810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спам		спам (1)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3810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не спам		не спам (1)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3810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спам		не спам (0)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marR="3810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3810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Модель угадала 8 из 10 писем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38100" rtl="0" algn="l">
              <a:lnSpc>
                <a:spcPct val="12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Accuracy = 8 / 10 = 0.8 = 80%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b5b03d823_0_279"/>
          <p:cNvSpPr txBox="1"/>
          <p:nvPr>
            <p:ph idx="1" type="body"/>
          </p:nvPr>
        </p:nvSpPr>
        <p:spPr>
          <a:xfrm>
            <a:off x="311700" y="1152475"/>
            <a:ext cx="85206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NLP (обработка естественного языка) — 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научная область на стыке лингвистики, CS и ML. Решает задачи понимания и генерации языка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Задачи NLP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классификация, извлечение информации, генерация, поиск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Токенизация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разбиение на сегменты (слова, подслова, символы)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Лемматизация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приведение слова к нормальной форме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Стемминг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отсечение окончаний слов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Векторизация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преобразование текста в числовые признаки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One-hot-encoding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вектор длины размера словаря, где 1 указываеи позицию слова в словаре, а 0 – остальные позиции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Метрика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числовая оценка качества модели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Roboto"/>
              <a:buChar char="●"/>
            </a:pPr>
            <a:r>
              <a:rPr b="1"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Accuracy</a:t>
            </a:r>
            <a:r>
              <a:rPr lang="en-GB" sz="17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доля правильных ответов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g38b5b03d823_0_2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Что мы изучили сегодня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