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4" roundtripDataSignature="AMtx7mjeFpqtptbOxhL0U+RAacltPBQs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b61fe9b4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8b61fe9b4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b61fe9b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8b61fe9b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7abdf41f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7abdf41f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abdf41f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abdf41f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abdf41f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abdf41f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abdf41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97abdf41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7abdf41f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7abdf41f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abdf41f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7abdf41f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abdf41f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7abdf41f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7abdf41f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7abdf41f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7abdf41f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7abdf41f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7abdf41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7abdf41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7abdf41f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7abdf41f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abdf41f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7abdf41f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7abdf41f9_0_219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97abdf41f9_0_219:notes"/>
          <p:cNvSpPr/>
          <p:nvPr>
            <p:ph idx="2" type="sldImg"/>
          </p:nvPr>
        </p:nvSpPr>
        <p:spPr>
          <a:xfrm>
            <a:off x="114312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7abdf41f9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7abdf41f9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7abdf41f9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7abdf41f9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abdf41f9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7abdf41f9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7abdf41f9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7abdf41f9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7abdf41f9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7abdf41f9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7abdf41f9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97abdf41f9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7abdf41f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7abdf41f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7abdf41f9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7abdf41f9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7abdf41f9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7abdf41f9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7abdf41f9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7abdf41f9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7abdf41f9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97abdf41f9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7abdf41f9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7abdf41f9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7abdf41f9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7abdf41f9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7abdf41f9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7abdf41f9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7abdf41f9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97abdf41f9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7abdf41f9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7abdf41f9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7abdf41f9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97abdf41f9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7abdf41f9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7abdf41f9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7abdf41f9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7abdf41f9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7abdf41f9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7abdf41f9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7abdf41f9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7abdf41f9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7abdf41f9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97abdf41f9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7abdf41f9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7abdf41f9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7abdf41f9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7abdf41f9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7abdf41f9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7abdf41f9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7abdf41f9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7abdf41f9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7abdf41f9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97abdf41f9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7abdf41f9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7abdf41f9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7abdf41f9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7abdf41f9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7abdf41f9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97abdf41f9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7abdf41f9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7abdf41f9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7abdf41f9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7abdf41f9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7abdf41f9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7abdf41f9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7abdf41f9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97abdf41f9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7abdf41f9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7abdf41f9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7abdf41f9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97abdf41f9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7abdf41f9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7abdf41f9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7abdf41f9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97abdf41f9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7abdf41f9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7abdf41f9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7abdf41f9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97abdf41f9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7abdf41f9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97abdf41f9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7abdf41f9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7abdf41f9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abdf41f9_0_329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97abdf41f9_0_329"/>
          <p:cNvSpPr txBox="1"/>
          <p:nvPr>
            <p:ph idx="1" type="body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7abdf41f9_0_329"/>
          <p:cNvSpPr txBox="1"/>
          <p:nvPr>
            <p:ph idx="11" type="ftr"/>
          </p:nvPr>
        </p:nvSpPr>
        <p:spPr>
          <a:xfrm>
            <a:off x="3127054" y="4685192"/>
            <a:ext cx="2898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300"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4" name="Google Shape;54;g397abdf41f9_0_329"/>
          <p:cNvSpPr txBox="1"/>
          <p:nvPr>
            <p:ph idx="12" type="sldNum"/>
          </p:nvPr>
        </p:nvSpPr>
        <p:spPr>
          <a:xfrm>
            <a:off x="655584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SzPts val="1300"/>
              <a:buFont typeface="Times New Roman"/>
              <a:buNone/>
              <a:defRPr b="0" sz="13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97abdf41f9_0_329"/>
          <p:cNvSpPr txBox="1"/>
          <p:nvPr>
            <p:ph idx="10" type="dt"/>
          </p:nvPr>
        </p:nvSpPr>
        <p:spPr>
          <a:xfrm>
            <a:off x="45717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s.brown.edu/courses/csci2952d/readings/lecture1-firth.pdf" TargetMode="External"/><Relationship Id="rId4" Type="http://schemas.openxmlformats.org/officeDocument/2006/relationships/hyperlink" Target="https://www.tandfonline.com/doi/pdf/10.1080/00437956.1954.11659520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4300"/>
              <a:t>Natural Language Processing</a:t>
            </a:r>
            <a:endParaRPr b="1" sz="4300"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3300">
                <a:solidFill>
                  <a:schemeClr val="dk1"/>
                </a:solidFill>
              </a:rPr>
              <a:t>Векторные представления</a:t>
            </a:r>
            <a:endParaRPr b="1"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b61fe9b4d_0_4"/>
          <p:cNvSpPr txBox="1"/>
          <p:nvPr>
            <p:ph idx="1" type="body"/>
          </p:nvPr>
        </p:nvSpPr>
        <p:spPr>
          <a:xfrm>
            <a:off x="311700" y="1152475"/>
            <a:ext cx="8520600" cy="3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Как кодировать значения слов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WordNet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Теоретические</a:t>
            </a:r>
            <a:r>
              <a:rPr lang="en-GB" sz="2500">
                <a:solidFill>
                  <a:schemeClr val="dk1"/>
                </a:solidFill>
              </a:rPr>
              <a:t> основы (Harris, Firth)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Простейшие методы (BoW)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Статические (Word2Vec, TF-IDF)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-GB" sz="2500">
                <a:solidFill>
                  <a:schemeClr val="dk1"/>
                </a:solidFill>
              </a:rPr>
              <a:t>Контекстуальные (ELMO, BERT, E5)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67" name="Google Shape;67;g38b61fe9b4d_0_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Темы лекции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b61fe9b4d_0_0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200"/>
              <a:t>Как кодировать значения слов</a:t>
            </a:r>
            <a:endParaRPr b="1"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97abdf41f9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0" y="1500188"/>
            <a:ext cx="4191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97abdf41f9_0_40"/>
          <p:cNvSpPr txBox="1"/>
          <p:nvPr/>
        </p:nvSpPr>
        <p:spPr>
          <a:xfrm>
            <a:off x="0" y="0"/>
            <a:ext cx="62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https://en.wikipedia.org/wiki/Set_theory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7abdf41f9_0_52"/>
          <p:cNvSpPr txBox="1"/>
          <p:nvPr/>
        </p:nvSpPr>
        <p:spPr>
          <a:xfrm>
            <a:off x="0" y="0"/>
            <a:ext cx="547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https://en.wikipedia.org/wiki/Montague_grammar</a:t>
            </a:r>
            <a:endParaRPr/>
          </a:p>
        </p:txBody>
      </p:sp>
      <p:pic>
        <p:nvPicPr>
          <p:cNvPr id="84" name="Google Shape;84;g397abdf41f9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79163"/>
            <a:ext cx="8839200" cy="1785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97abdf41f9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8763"/>
            <a:ext cx="8839197" cy="3385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7abdf41f9_0_1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200"/>
              <a:t>WordNet</a:t>
            </a:r>
            <a:endParaRPr b="1"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7abdf41f9_0_71"/>
          <p:cNvSpPr txBox="1"/>
          <p:nvPr/>
        </p:nvSpPr>
        <p:spPr>
          <a:xfrm>
            <a:off x="0" y="0"/>
            <a:ext cx="53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https://en.wikipedia.org/wiki/Graph_theory</a:t>
            </a:r>
            <a:endParaRPr/>
          </a:p>
        </p:txBody>
      </p:sp>
      <p:pic>
        <p:nvPicPr>
          <p:cNvPr id="100" name="Google Shape;100;g397abdf41f9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2600"/>
            <a:ext cx="28765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97abdf41f9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1350" y="552600"/>
            <a:ext cx="4456325" cy="44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97abdf41f9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2421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7abdf41f9_0_87"/>
          <p:cNvSpPr txBox="1"/>
          <p:nvPr/>
        </p:nvSpPr>
        <p:spPr>
          <a:xfrm>
            <a:off x="0" y="0"/>
            <a:ext cx="825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http://geniferology.blogspot.com/2012/10/playing-with-wordnet.html</a:t>
            </a:r>
            <a:endParaRPr/>
          </a:p>
        </p:txBody>
      </p:sp>
      <p:pic>
        <p:nvPicPr>
          <p:cNvPr id="112" name="Google Shape;112;g397abdf41f9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2600"/>
            <a:ext cx="5205984" cy="44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abdf41f9_0_96"/>
          <p:cNvSpPr txBox="1"/>
          <p:nvPr/>
        </p:nvSpPr>
        <p:spPr>
          <a:xfrm>
            <a:off x="0" y="599316"/>
            <a:ext cx="30000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The WordNet digraph.</a:t>
            </a:r>
            <a:r>
              <a:rPr lang="en-GB" sz="1100">
                <a:solidFill>
                  <a:schemeClr val="dk1"/>
                </a:solidFill>
              </a:rPr>
              <a:t> Your first task is to build the WordNet digraph: each vertex </a:t>
            </a:r>
            <a:r>
              <a:rPr i="1" lang="en-GB" sz="1100">
                <a:solidFill>
                  <a:schemeClr val="dk1"/>
                </a:solidFill>
              </a:rPr>
              <a:t>v</a:t>
            </a:r>
            <a:r>
              <a:rPr lang="en-GB" sz="1100">
                <a:solidFill>
                  <a:schemeClr val="dk1"/>
                </a:solidFill>
              </a:rPr>
              <a:t> is an integer that represents a synset, and each directed edge </a:t>
            </a:r>
            <a:r>
              <a:rPr i="1" lang="en-GB" sz="1100">
                <a:solidFill>
                  <a:schemeClr val="dk1"/>
                </a:solidFill>
              </a:rPr>
              <a:t>v→w</a:t>
            </a:r>
            <a:r>
              <a:rPr lang="en-GB" sz="1100">
                <a:solidFill>
                  <a:schemeClr val="dk1"/>
                </a:solidFill>
              </a:rPr>
              <a:t> represents that </a:t>
            </a:r>
            <a:r>
              <a:rPr i="1" lang="en-GB" sz="1100">
                <a:solidFill>
                  <a:schemeClr val="dk1"/>
                </a:solidFill>
              </a:rPr>
              <a:t>w</a:t>
            </a:r>
            <a:r>
              <a:rPr lang="en-GB" sz="1100">
                <a:solidFill>
                  <a:schemeClr val="dk1"/>
                </a:solidFill>
              </a:rPr>
              <a:t> is a hypernym of </a:t>
            </a:r>
            <a:r>
              <a:rPr i="1" lang="en-GB" sz="1100">
                <a:solidFill>
                  <a:schemeClr val="dk1"/>
                </a:solidFill>
              </a:rPr>
              <a:t>v</a:t>
            </a:r>
            <a:r>
              <a:rPr lang="en-GB" sz="1100">
                <a:solidFill>
                  <a:schemeClr val="dk1"/>
                </a:solidFill>
              </a:rPr>
              <a:t>. The WordNet digraph is a </a:t>
            </a:r>
            <a:r>
              <a:rPr i="1" lang="en-GB" sz="1100">
                <a:solidFill>
                  <a:schemeClr val="dk1"/>
                </a:solidFill>
              </a:rPr>
              <a:t>rooted DAG</a:t>
            </a:r>
            <a:r>
              <a:rPr lang="en-GB" sz="1100">
                <a:solidFill>
                  <a:schemeClr val="dk1"/>
                </a:solidFill>
              </a:rPr>
              <a:t>: it is acyclic and has one vertex—the </a:t>
            </a:r>
            <a:r>
              <a:rPr i="1" lang="en-GB" sz="1100">
                <a:solidFill>
                  <a:schemeClr val="dk1"/>
                </a:solidFill>
              </a:rPr>
              <a:t>root</a:t>
            </a:r>
            <a:r>
              <a:rPr lang="en-GB" sz="1100">
                <a:solidFill>
                  <a:schemeClr val="dk1"/>
                </a:solidFill>
              </a:rPr>
              <a:t>—that is an ancestor of every other vertex. However, it is not necessarily a tree because a synset can have more than one hypernym. Here is a small subgraph of the WordNet digraph: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8" name="Google Shape;118;g397abdf41f9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400" y="751716"/>
            <a:ext cx="5839199" cy="425661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97abdf41f9_0_96"/>
          <p:cNvSpPr txBox="1"/>
          <p:nvPr/>
        </p:nvSpPr>
        <p:spPr>
          <a:xfrm>
            <a:off x="0" y="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https://www.cs.princeton.edu/courses/archive/fall25/cos226/assignments/wordnet/specification.php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7abdf41f9_0_10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7abdf41f9_0_10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g397abdf41f9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3396"/>
            <a:ext cx="9144003" cy="3656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abdf41f9_0_6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200"/>
              <a:t>Теоретические основы</a:t>
            </a:r>
            <a:endParaRPr b="1" sz="4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7abdf41f9_0_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Дистрибутивная семантика</a:t>
            </a:r>
            <a:endParaRPr/>
          </a:p>
        </p:txBody>
      </p:sp>
      <p:sp>
        <p:nvSpPr>
          <p:cNvPr id="137" name="Google Shape;137;g397abdf41f9_0_1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Firth</a:t>
            </a:r>
            <a:r>
              <a:rPr lang="en-GB" sz="2300"/>
              <a:t>: “You shall know a word by the company it keeps” (Firth, J. R. (1957). Studies in Linguistic Analysis (</a:t>
            </a:r>
            <a:r>
              <a:rPr lang="en-GB" sz="23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PDF</a:t>
            </a:r>
            <a:r>
              <a:rPr lang="en-GB" sz="2300"/>
              <a:t>). Wiley-Blackwell)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Harris</a:t>
            </a:r>
            <a:r>
              <a:rPr lang="en-GB" sz="2300"/>
              <a:t>: "...distributional statements can cover all of the material of a language without requiring support from other types of information…” (Harris, Z. S. (1954). Distributional Structure (</a:t>
            </a:r>
            <a:r>
              <a:rPr lang="en-GB" sz="23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PDF</a:t>
            </a:r>
            <a:r>
              <a:rPr lang="en-GB" sz="2300"/>
              <a:t>). Taylor &amp; Francis Online)</a:t>
            </a: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7abdf41f9_0_1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Мысленный эксперимент</a:t>
            </a:r>
            <a:endParaRPr/>
          </a:p>
        </p:txBody>
      </p:sp>
      <p:sp>
        <p:nvSpPr>
          <p:cNvPr id="143" name="Google Shape;143;g397abdf41f9_0_1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marR="2286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400"/>
              <a:buAutoNum type="arabicPeriod"/>
            </a:pPr>
            <a:r>
              <a:rPr lang="en-GB" sz="2400">
                <a:solidFill>
                  <a:srgbClr val="1F1F1F"/>
                </a:solidFill>
              </a:rPr>
              <a:t>The vase sat on the [MASK] in the living room.</a:t>
            </a:r>
            <a:endParaRPr sz="2400">
              <a:solidFill>
                <a:srgbClr val="1F1F1F"/>
              </a:solidFill>
            </a:endParaRPr>
          </a:p>
          <a:p>
            <a:pPr indent="-381000" lvl="0" marL="457200" marR="2286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2400"/>
              <a:buAutoNum type="arabicPeriod"/>
            </a:pPr>
            <a:r>
              <a:rPr lang="en-GB" sz="2400">
                <a:solidFill>
                  <a:srgbClr val="1F1F1F"/>
                </a:solidFill>
              </a:rPr>
              <a:t>I set my coffee cup on the [MASK] next to the couch.</a:t>
            </a:r>
            <a:endParaRPr sz="2400">
              <a:solidFill>
                <a:srgbClr val="1F1F1F"/>
              </a:solidFill>
            </a:endParaRPr>
          </a:p>
          <a:p>
            <a:pPr indent="-381000" lvl="0" marL="457200" marR="2286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2400"/>
              <a:buAutoNum type="arabicPeriod"/>
            </a:pPr>
            <a:r>
              <a:rPr lang="en-GB" sz="2400">
                <a:solidFill>
                  <a:srgbClr val="1F1F1F"/>
                </a:solidFill>
              </a:rPr>
              <a:t>We ate dinner at the [MASK] in the kitchen.</a:t>
            </a:r>
            <a:endParaRPr sz="2400">
              <a:solidFill>
                <a:srgbClr val="1F1F1F"/>
              </a:solidFill>
            </a:endParaRPr>
          </a:p>
          <a:p>
            <a:pPr indent="-381000" lvl="0" marL="457200" marR="2286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Clr>
                <a:srgbClr val="1F1F1F"/>
              </a:buClr>
              <a:buSzPts val="2400"/>
              <a:buAutoNum type="arabicPeriod"/>
            </a:pPr>
            <a:r>
              <a:rPr lang="en-GB" sz="2400">
                <a:solidFill>
                  <a:srgbClr val="1F1F1F"/>
                </a:solidFill>
              </a:rPr>
              <a:t>The [MASK] was covered in a white tablecloth.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7abdf41f9_0_219"/>
          <p:cNvSpPr txBox="1"/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4000"/>
              <a:buFont typeface="Arial"/>
              <a:buNone/>
            </a:pPr>
            <a:r>
              <a:rPr b="1" lang="en-GB" sz="4000" strike="noStrike">
                <a:latin typeface="Arial"/>
                <a:ea typeface="Arial"/>
                <a:cs typeface="Arial"/>
                <a:sym typeface="Arial"/>
              </a:rPr>
              <a:t>Цель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97abdf41f9_0_219"/>
          <p:cNvSpPr txBox="1"/>
          <p:nvPr>
            <p:ph idx="1" type="body"/>
          </p:nvPr>
        </p:nvSpPr>
        <p:spPr>
          <a:xfrm>
            <a:off x="829440" y="1866175"/>
            <a:ext cx="4146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иду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97abdf41f9_0_219"/>
          <p:cNvCxnSpPr/>
          <p:nvPr/>
        </p:nvCxnSpPr>
        <p:spPr>
          <a:xfrm flipH="1" rot="10800000">
            <a:off x="435946" y="1203340"/>
            <a:ext cx="300" cy="2982900"/>
          </a:xfrm>
          <a:prstGeom prst="straightConnector1">
            <a:avLst/>
          </a:prstGeom>
          <a:noFill/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g397abdf41f9_0_219"/>
          <p:cNvCxnSpPr/>
          <p:nvPr/>
        </p:nvCxnSpPr>
        <p:spPr>
          <a:xfrm>
            <a:off x="435946" y="4185913"/>
            <a:ext cx="3089100" cy="0"/>
          </a:xfrm>
          <a:prstGeom prst="straightConnector1">
            <a:avLst/>
          </a:prstGeom>
          <a:noFill/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g397abdf41f9_0_219"/>
          <p:cNvCxnSpPr/>
          <p:nvPr/>
        </p:nvCxnSpPr>
        <p:spPr>
          <a:xfrm flipH="1" rot="10800000">
            <a:off x="435946" y="2073613"/>
            <a:ext cx="186000" cy="2112300"/>
          </a:xfrm>
          <a:prstGeom prst="straightConnector1">
            <a:avLst/>
          </a:prstGeom>
          <a:noFill/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g397abdf41f9_0_219"/>
          <p:cNvCxnSpPr/>
          <p:nvPr/>
        </p:nvCxnSpPr>
        <p:spPr>
          <a:xfrm flipH="1" rot="10800000">
            <a:off x="435946" y="2488213"/>
            <a:ext cx="600900" cy="1697700"/>
          </a:xfrm>
          <a:prstGeom prst="straightConnector1">
            <a:avLst/>
          </a:prstGeom>
          <a:noFill/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g397abdf41f9_0_219"/>
          <p:cNvCxnSpPr/>
          <p:nvPr/>
        </p:nvCxnSpPr>
        <p:spPr>
          <a:xfrm flipH="1" rot="10800000">
            <a:off x="435946" y="3110113"/>
            <a:ext cx="2467200" cy="1075800"/>
          </a:xfrm>
          <a:prstGeom prst="straightConnector1">
            <a:avLst/>
          </a:prstGeom>
          <a:noFill/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g397abdf41f9_0_219"/>
          <p:cNvSpPr/>
          <p:nvPr/>
        </p:nvSpPr>
        <p:spPr>
          <a:xfrm>
            <a:off x="524115" y="1898829"/>
            <a:ext cx="207300" cy="207300"/>
          </a:xfrm>
          <a:prstGeom prst="ellipse">
            <a:avLst/>
          </a:prstGeom>
          <a:solidFill>
            <a:srgbClr val="729FCF"/>
          </a:solidFill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25" lIns="82925" spcFirstLastPara="1" rIns="82925" wrap="square" tIns="8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97abdf41f9_0_219"/>
          <p:cNvSpPr/>
          <p:nvPr/>
        </p:nvSpPr>
        <p:spPr>
          <a:xfrm>
            <a:off x="927405" y="2346188"/>
            <a:ext cx="207300" cy="207300"/>
          </a:xfrm>
          <a:prstGeom prst="ellipse">
            <a:avLst/>
          </a:prstGeom>
          <a:solidFill>
            <a:srgbClr val="729FCF"/>
          </a:solidFill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25" lIns="82925" spcFirstLastPara="1" rIns="82925" wrap="square" tIns="8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7abdf41f9_0_219"/>
          <p:cNvSpPr/>
          <p:nvPr/>
        </p:nvSpPr>
        <p:spPr>
          <a:xfrm>
            <a:off x="2805075" y="2968246"/>
            <a:ext cx="207300" cy="207300"/>
          </a:xfrm>
          <a:prstGeom prst="ellipse">
            <a:avLst/>
          </a:prstGeom>
          <a:solidFill>
            <a:srgbClr val="729FCF"/>
          </a:solidFill>
          <a:ln cap="flat" cmpd="sng" w="865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25" lIns="82925" spcFirstLastPara="1" rIns="82925" wrap="square" tIns="8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g397abdf41f9_0_219"/>
          <p:cNvCxnSpPr/>
          <p:nvPr/>
        </p:nvCxnSpPr>
        <p:spPr>
          <a:xfrm>
            <a:off x="622080" y="2488233"/>
            <a:ext cx="207300" cy="414600"/>
          </a:xfrm>
          <a:prstGeom prst="straightConnector1">
            <a:avLst/>
          </a:prstGeom>
          <a:noFill/>
          <a:ln cap="flat" cmpd="sng" w="8650">
            <a:solidFill>
              <a:srgbClr val="3465A4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59" name="Google Shape;159;g397abdf41f9_0_219"/>
          <p:cNvCxnSpPr/>
          <p:nvPr/>
        </p:nvCxnSpPr>
        <p:spPr>
          <a:xfrm>
            <a:off x="1036800" y="2695586"/>
            <a:ext cx="1659000" cy="414600"/>
          </a:xfrm>
          <a:prstGeom prst="straightConnector1">
            <a:avLst/>
          </a:prstGeom>
          <a:noFill/>
          <a:ln cap="flat" cmpd="sng" w="8650">
            <a:solidFill>
              <a:srgbClr val="3465A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0" name="Google Shape;160;g397abdf41f9_0_219"/>
          <p:cNvSpPr txBox="1"/>
          <p:nvPr>
            <p:ph idx="1" type="body"/>
          </p:nvPr>
        </p:nvSpPr>
        <p:spPr>
          <a:xfrm>
            <a:off x="1218362" y="2323657"/>
            <a:ext cx="4146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шёл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97abdf41f9_0_219"/>
          <p:cNvSpPr txBox="1"/>
          <p:nvPr>
            <p:ph idx="1" type="body"/>
          </p:nvPr>
        </p:nvSpPr>
        <p:spPr>
          <a:xfrm>
            <a:off x="3079704" y="2911428"/>
            <a:ext cx="65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автобус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97abdf41f9_0_219"/>
          <p:cNvSpPr txBox="1"/>
          <p:nvPr>
            <p:ph idx="1" type="body"/>
          </p:nvPr>
        </p:nvSpPr>
        <p:spPr>
          <a:xfrm>
            <a:off x="451620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(1) Объективная оценка близости</a:t>
            </a:r>
            <a:br>
              <a:rPr b="0" i="0" lang="en-GB" sz="2900" u="none" cap="none" strike="noStrike"/>
            </a:br>
            <a:r>
              <a:rPr b="0" i="1" lang="en-GB" sz="2900" u="none" cap="none" strike="noStrike">
                <a:latin typeface="Arial"/>
                <a:ea typeface="Arial"/>
                <a:cs typeface="Arial"/>
                <a:sym typeface="Arial"/>
              </a:rPr>
              <a:t>(косинусное сходство)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13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(2) Передать признаки</a:t>
            </a:r>
            <a:br>
              <a:rPr b="0" i="0" lang="en-GB" sz="2900" u="none" cap="none" strike="noStrike"/>
            </a:b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на разных уровнях языка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13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(3) Вычислить общеязыковые</a:t>
            </a:r>
            <a:br>
              <a:rPr b="0" i="0" lang="en-GB" sz="2900" u="none" cap="none" strike="noStrike"/>
            </a:b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паттерны – “универсалии”</a:t>
            </a:r>
            <a:br>
              <a:rPr b="0" i="0" lang="en-GB" sz="2900" u="none" cap="none" strike="noStrike"/>
            </a:br>
            <a:r>
              <a:rPr b="0" i="0" lang="en-GB" sz="2900" u="none" cap="none" strike="noStrike">
                <a:latin typeface="Arial"/>
                <a:ea typeface="Arial"/>
                <a:cs typeface="Arial"/>
                <a:sym typeface="Arial"/>
              </a:rPr>
              <a:t>для решения прикладных задач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7abdf41f9_0_3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7abdf41f9_0_3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g397abdf41f9_0_3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3082"/>
            <a:ext cx="9143999" cy="215733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97abdf41f9_0_335"/>
          <p:cNvSpPr txBox="1"/>
          <p:nvPr/>
        </p:nvSpPr>
        <p:spPr>
          <a:xfrm>
            <a:off x="0" y="0"/>
            <a:ext cx="607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https://web.stanford.edu/~jurafsky/slp3/slides/vectorsemantics2024.pdf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7abdf41f9_0_3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7abdf41f9_0_3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g397abdf41f9_0_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4116"/>
            <a:ext cx="9143999" cy="4495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7abdf41f9_0_3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97abdf41f9_0_3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g397abdf41f9_0_3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937"/>
            <a:ext cx="9144000" cy="506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7abdf41f9_0_3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Дистрибутивная семантика</a:t>
            </a:r>
            <a:endParaRPr/>
          </a:p>
        </p:txBody>
      </p:sp>
      <p:sp>
        <p:nvSpPr>
          <p:cNvPr id="190" name="Google Shape;190;g397abdf41f9_0_3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Концепция: значение слова определяется его окружением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Метод: слова представляются в виде </a:t>
            </a:r>
            <a:r>
              <a:rPr b="1" lang="en-GB" sz="2400"/>
              <a:t>векторов</a:t>
            </a:r>
            <a:r>
              <a:rPr lang="en-GB" sz="2400"/>
              <a:t>, которые отражают их </a:t>
            </a:r>
            <a:r>
              <a:rPr b="1" lang="en-GB" sz="2400"/>
              <a:t>дистрибуцию</a:t>
            </a:r>
            <a:r>
              <a:rPr lang="en-GB" sz="2400"/>
              <a:t> - закономерности (паттерны) их использования в текстах. Чем ближе векторы, тем ближе значения слов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Значение ≈ Дистрибуция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7abdf41f9_0_4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Как определить дистрибуцию?</a:t>
            </a:r>
            <a:endParaRPr/>
          </a:p>
        </p:txBody>
      </p:sp>
      <p:sp>
        <p:nvSpPr>
          <p:cNvPr id="196" name="Google Shape;196;g397abdf41f9_0_4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Дистрибуция</a:t>
            </a:r>
            <a:r>
              <a:rPr lang="en-GB" sz="2100"/>
              <a:t> — это совокупность всех лингвистических контекстов, в которых встречается слово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Приложения: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Классификация текстов по семантической близости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Генеративная модель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Поисковая система</a:t>
            </a:r>
            <a:endParaRPr sz="2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7abdf41f9_0_848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200"/>
              <a:t>One-hot, bag-of-words</a:t>
            </a:r>
            <a:endParaRPr b="1" sz="4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7abdf41f9_0_5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Подходы к анализу дистрибуции</a:t>
            </a:r>
            <a:endParaRPr/>
          </a:p>
        </p:txBody>
      </p:sp>
      <p:sp>
        <p:nvSpPr>
          <p:cNvPr id="207" name="Google Shape;207;g397abdf41f9_0_5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Статистический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Подсчет частоты совместной встречаемости слов в окне (например, ±5 слов)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Контекстуальный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Использование нейросетевых моделей для с целью построения целостного векторного представления слова с учетом многозначности</a:t>
            </a:r>
            <a:endParaRPr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7abdf41f9_0_8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97abdf41f9_0_8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g397abdf41f9_0_8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313" y="666750"/>
            <a:ext cx="5667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7abdf41f9_0_5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220" name="Google Shape;220;g397abdf41f9_0_5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методы (на основе подсчета частотности встречаемости слов в общем контексте)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Мешок слов (Bag-of-Words): текст представляется как неупорядоченный набора слов; признак - частота слова в документе; чем больше пересечений между документами, тем выше сходство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Н</a:t>
            </a:r>
            <a:r>
              <a:rPr lang="en-GB" sz="2300"/>
              <a:t>е учитывает порядок слов и грамматику</a:t>
            </a:r>
            <a:endParaRPr sz="2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397abdf41f9_0_5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50" y="709613"/>
            <a:ext cx="83820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7abdf41f9_0_858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200"/>
              <a:t>TF-IDF</a:t>
            </a:r>
            <a:endParaRPr b="1" sz="4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7abdf41f9_0_8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236" name="Google Shape;236;g397abdf41f9_0_8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TF-IDF: мера оценки важности слова в документе относительно коллекции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TF-IDF = частота слова в документе (TF) × логарифм обратной частоты в коллекции (IDF)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Используется в информационном поиске и RAG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Не учитывает семантическую близость слов внутри текста, только характеризует частотность слов для документа</a:t>
            </a:r>
            <a:endParaRPr sz="2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397abdf41f9_0_8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1100"/>
            <a:ext cx="8839201" cy="210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97abdf41f9_0_8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86374"/>
            <a:ext cx="8839199" cy="2026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397abdf41f9_0_8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9638"/>
            <a:ext cx="8839199" cy="410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7abdf41f9_0_881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200"/>
              <a:t>Word2Vec</a:t>
            </a:r>
            <a:endParaRPr b="1" sz="4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7abdf41f9_0_8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258" name="Google Shape;258;g397abdf41f9_0_8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</a:t>
            </a:r>
            <a:r>
              <a:rPr b="1" lang="en-GB" sz="2300" u="sng"/>
              <a:t>векторные</a:t>
            </a:r>
            <a:r>
              <a:rPr b="1" lang="en-GB" sz="2300"/>
              <a:t> методы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Word2Vec (CBOW): строим модель машинного обучения, которая предсказывает, насколько вероятно, что данное слово является целевым слово для списка контекстных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Слова представляются как плотные векторы; семантическое сходство определяется близостью векторов в евклидовом пространстве</a:t>
            </a:r>
            <a:endParaRPr sz="2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g397abdf41f9_0_8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38" y="561975"/>
            <a:ext cx="762952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7abdf41f9_0_8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269" name="Google Shape;269;g397abdf41f9_0_8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</a:t>
            </a:r>
            <a:r>
              <a:rPr b="1" lang="en-GB" sz="2300" u="sng"/>
              <a:t>векторные</a:t>
            </a:r>
            <a:r>
              <a:rPr b="1" lang="en-GB" sz="2300"/>
              <a:t> методы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Word2Vec (Skip-gram): строим модель машинного обучения, которая предсказывает вероятные контекстные слова для целевого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Слова представляются как плотные векторы; семантическое сходство определяется близостью векторов в евклидовом пространстве</a:t>
            </a:r>
            <a:endParaRPr sz="2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397abdf41f9_0_8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763" y="700088"/>
            <a:ext cx="761047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7abdf41f9_0_9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280" name="Google Shape;280;g397abdf41f9_0_9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</a:t>
            </a:r>
            <a:r>
              <a:rPr b="1" lang="en-GB" sz="2300" u="sng"/>
              <a:t>векторные</a:t>
            </a:r>
            <a:r>
              <a:rPr b="1" lang="en-GB" sz="2300"/>
              <a:t> методы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Word2Vec</a:t>
            </a:r>
            <a:endParaRPr sz="23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CBOW — угадай слово по контексту (быстрее, лучше для частотных слов)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Skip-gram — угадай контекст по слову (лучше для редких слов)</a:t>
            </a:r>
            <a:endParaRPr sz="18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Статические эмбеддинги, не учитывают многозначность</a:t>
            </a:r>
            <a:endParaRPr sz="2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7abdf41f9_0_9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286" name="Google Shape;286;g397abdf41f9_0_90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</a:t>
            </a:r>
            <a:r>
              <a:rPr b="1" lang="en-GB" sz="2300" u="sng"/>
              <a:t>векторные</a:t>
            </a:r>
            <a:r>
              <a:rPr b="1" lang="en-GB" sz="2300"/>
              <a:t> методы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FastText: слова представляются как сумма n-граммных векторов; признак - морфологическая структура слова; позволяет строить векторы для редких и OOV (out-of-vocabulary) слов</a:t>
            </a:r>
            <a:endParaRPr sz="2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397abdf41f9_0_9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188" y="343625"/>
            <a:ext cx="32861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97abdf41f9_0_9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0613" y="2277200"/>
            <a:ext cx="33432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97abdf41f9_0_9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8313" y="2945125"/>
            <a:ext cx="14001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97abdf41f9_0_9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0213" y="3392800"/>
            <a:ext cx="57435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7abdf41f9_0_9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00" name="Google Shape;300;g397abdf41f9_0_9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</a:t>
            </a:r>
            <a:r>
              <a:rPr b="1" lang="en-GB" sz="2300" u="sng"/>
              <a:t>векторные</a:t>
            </a:r>
            <a:r>
              <a:rPr b="1" lang="en-GB" sz="2300"/>
              <a:t> методы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FastText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Для частотных слов снижается точность</a:t>
            </a:r>
            <a:endParaRPr sz="2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7abdf41f9_0_9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06" name="Google Shape;306;g397abdf41f9_0_9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</a:t>
            </a:r>
            <a:r>
              <a:rPr b="1" lang="en-GB" sz="2300" u="sng"/>
              <a:t>векторные</a:t>
            </a:r>
            <a:r>
              <a:rPr b="1" lang="en-GB" sz="2300"/>
              <a:t> методы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GloVe (Global Vectors): слова представляются как плотные векторы; алгоритм - оптимизация векторов для воспроизведения глобальной статистики совместной встречаемости слов из всей коллекции</a:t>
            </a:r>
            <a:endParaRPr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97abdf41f9_0_9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288" y="152400"/>
            <a:ext cx="62114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97abdf41f9_0_9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275" y="152400"/>
            <a:ext cx="620346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97abdf41f9_0_9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288" y="152400"/>
            <a:ext cx="62114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g397abdf41f9_0_9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263" y="152400"/>
            <a:ext cx="624348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7abdf41f9_0_9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32" name="Google Shape;332;g397abdf41f9_0_9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Статистические </a:t>
            </a:r>
            <a:r>
              <a:rPr b="1" lang="en-GB" sz="2300" u="sng"/>
              <a:t>векторные</a:t>
            </a:r>
            <a:r>
              <a:rPr b="1" lang="en-GB" sz="2300"/>
              <a:t> методы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GloVe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Фиксированные представления, как в Word2Vec</a:t>
            </a:r>
            <a:endParaRPr sz="23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7abdf41f9_0_951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4200"/>
              <a:t>Обзор методов ELMO, BERT</a:t>
            </a:r>
            <a:endParaRPr b="1" sz="4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g397abdf41f9_0_5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600" y="152400"/>
            <a:ext cx="655678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g397abdf41f9_0_5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13" y="426500"/>
            <a:ext cx="8941574" cy="42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g397abdf41f9_0_5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38" y="835463"/>
            <a:ext cx="8878325" cy="34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7abdf41f9_0_6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58" name="Google Shape;358;g397abdf41f9_0_6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Контекстуальные (на основе нейросетей)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ELMo (Embeddings from Language Models): слова представляются как контекстуальные векторы; алгоритм - обучение двунаправленной LSTM на задаче предсказания следующего слова; значение вектора зависит от всего контекста предложения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Медленнее трансформеров, сложная архитектура</a:t>
            </a:r>
            <a:endParaRPr sz="23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g397abdf41f9_0_6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4888"/>
            <a:ext cx="8839200" cy="3713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7abdf41f9_0_6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69" name="Google Shape;369;g397abdf41f9_0_6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Контекстуальные (на основе нейросетей)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BERT (Bidirectional Encoder Representations): слова/предложения представляются как контекстуальные векторы; алгоритм - двунаправленное обучение на Masked Language Modeling (MLM) и Next Sentence Prediction (NSP)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Требует больших вычислительных ресурсов, часто используется для файн-тюнинга</a:t>
            </a:r>
            <a:endParaRPr sz="2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7abdf41f9_0_6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75" name="Google Shape;375;g397abdf41f9_0_6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Контекстуальные (на основе нейросетей)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BERT (Bidirectional Encoder Representations):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Masked Language Modeling (MLM): модель предсказывает пропуски слов в контексте, как fill-in-the-gap (анализ значения)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Next Sentence Prediction (NSP): модель предсказывает являются ли 2 предложения следующими друг за другом, анализ отношений между предложениями (структура)</a:t>
            </a:r>
            <a:endParaRPr sz="23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g397abdf41f9_0_6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38" y="619125"/>
            <a:ext cx="755332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7abdf41f9_0_6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86" name="Google Shape;386;g397abdf41f9_0_6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Контекстуальные (на основе нейросетей)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E5 (EmbEddings from bidirEctional Encoder rEpresentations): тексты представляются как универсальные векторы; алгоритм - контрастивное обучение на парных данных (запрос-абзац); предназначен для семантического поиска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Специализация на задачах поиска</a:t>
            </a:r>
            <a:endParaRPr sz="23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97abdf41f9_0_6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063" y="152400"/>
            <a:ext cx="5213883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7abdf41f9_0_6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Алгоритмы</a:t>
            </a:r>
            <a:endParaRPr/>
          </a:p>
        </p:txBody>
      </p:sp>
      <p:sp>
        <p:nvSpPr>
          <p:cNvPr id="397" name="Google Shape;397;g397abdf41f9_0_6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-GB" sz="2300"/>
              <a:t>Контекстуальные (на основе нейросетей)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/>
              <a:t>LASER (Language-Agnostic SEntence Representations): предложения на любом языке представляются как многозначные векторы в едином пространстве; алгоритм - обучение encoder-decoder архитектуры на задаче машинного перевода с общим энкодером; обеспечивает кросс-лингвальное семантическое сходство (для 100+ языков)</a:t>
            </a:r>
            <a:endParaRPr sz="23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g397abdf41f9_0_6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1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